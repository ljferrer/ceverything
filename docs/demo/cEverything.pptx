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3d48b7d-f784-c19d-4978-1134e6465a11}">
          <p14:sldIdLst>
            <p14:sldId id="256"/>
          </p14:sldIdLst>
        </p14:section>
        <p14:section name="The idea" id="{411a18d0-f44b-1058-b2a1-982acbff2916}">
          <p14:sldIdLst>
            <p14:sldId id="257"/>
          </p14:sldIdLst>
        </p14:section>
        <p14:section name="Why a room" id="{fe834462-77f4-6573-b869-c95233c42b34}">
          <p14:sldIdLst>
            <p14:sldId id="258"/>
          </p14:sldIdLst>
        </p14:section>
        <p14:section name="Demo" id="{5cc927ad-9d4e-f45e-7d51-25d15d15e3f6}">
          <p14:sldIdLst>
            <p14:sldId id="259"/>
          </p14:sldIdLst>
        </p14:section>
        <p14:section name="How it was built" id="{87171155-8ee7-9a1e-be42-2e3b88ba2c3a}">
          <p14:sldIdLst>
            <p14:sldId id="260"/>
          </p14:sldIdLst>
        </p14:section>
        <p14:section name="Closing" id="{270081f6-c48e-3f37-8e15-acc909f8be0c}">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2F2F2"/>
                </a:solidFill>
                <a:latin typeface="+mn-lt"/>
              </a:defRPr>
            </a:pPr>
            <a:r>
              <a:rPr sz="1300" b="0" i="0" u="none" strike="noStrike">
                <a:solidFill>
                  <a:srgbClr val="F2F2F2"/>
                </a:solidFill>
                <a:latin typeface="+mn-lt"/>
              </a:rPr>
              <a:t>Tokens by kind, millions</a:t>
            </a:r>
          </a:p>
        </c:rich>
      </c:tx>
      <c:layout/>
      <c:overlay val="0"/>
    </c:title>
    <c:autoTitleDeleted val="0"/>
    <c:plotArea>
      <c:layout/>
      <c:barChart>
        <c:barDir val="bar"/>
        <c:grouping val="clustered"/>
        <c:varyColors val="0"/>
        <c:ser>
          <c:idx val="0"/>
          <c:order val="0"/>
          <c:tx>
            <c:strRef>
              <c:f>Sheet1!$B$1</c:f>
              <c:strCache>
                <c:ptCount val="1"/>
                <c:pt idx="0">
                  <c:v>Tokens (millions)</c:v>
                </c:pt>
              </c:strCache>
            </c:strRef>
          </c:tx>
          <c:spPr>
            <a:solidFill>
              <a:srgbClr val="FF2A1A"/>
            </a:solidFill>
            <a:effectLst/>
          </c:spPr>
          <c:invertIfNegative val="0"/>
          <c:dLbls>
            <c:numFmt formatCode="#,##0.0" sourceLinked="0"/>
            <c:txPr>
              <a:bodyPr/>
              <a:lstStyle/>
              <a:p>
                <a:pPr>
                  <a:defRPr b="0" i="0" strike="noStrike" sz="1100" u="none">
                    <a:solidFill>
                      <a:srgbClr val="F2F2F2"/>
                    </a:solidFill>
                    <a:latin typeface="+mn-lt"/>
                  </a:defRPr>
                </a:pPr>
              </a:p>
            </c:txPr>
            <c:showLegendKey val="0"/>
            <c:showVal val="1"/>
            <c:showCatName val="0"/>
            <c:showSerName val="0"/>
            <c:showPercent val="0"/>
            <c:showBubbleSize val="0"/>
            <c:showLeaderLines val="0"/>
          </c:dLbls>
          <c:cat>
            <c:multiLvlStrRef>
              <c:f>Sheet1!$A$2:$A$5</c:f>
              <c:multiLvlStrCache>
                <c:ptCount val="4"/>
                <c:lvl>
                  <c:pt idx="0">
                    <c:v>Cache read</c:v>
                  </c:pt>
                  <c:pt idx="1">
                    <c:v>Cache write</c:v>
                  </c:pt>
                  <c:pt idx="2">
                    <c:v>Output</c:v>
                  </c:pt>
                  <c:pt idx="3">
                    <c:v>Fresh input</c:v>
                  </c:pt>
                </c:lvl>
              </c:multiLvlStrCache>
            </c:multiLvlStrRef>
          </c:cat>
          <c:val>
            <c:numRef>
              <c:f>Sheet1!$B$2:$B$5</c:f>
              <c:numCache>
                <c:formatCode>General</c:formatCode>
                <c:ptCount val="4"/>
                <c:pt idx="0">
                  <c:v>770.9</c:v>
                </c:pt>
                <c:pt idx="1">
                  <c:v>39.09</c:v>
                </c:pt>
                <c:pt idx="2">
                  <c:v>2.01</c:v>
                </c:pt>
                <c:pt idx="3">
                  <c:v>0.04</c:v>
                </c:pt>
              </c:numCache>
            </c:numRef>
          </c:val>
        </c:ser>
        <c:dLbls>
          <c:numFmt formatCode="#,##0.0" sourceLinked="0"/>
          <c:txPr>
            <a:bodyPr/>
            <a:lstStyle/>
            <a:p>
              <a:pPr>
                <a:defRPr b="0" i="0" strike="noStrike" sz="1100" u="none">
                  <a:solidFill>
                    <a:srgbClr val="F2F2F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B8B8B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cEverything turns every AI agent session into a monolith in a WebXR room you can walk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cells (O'Keefe and Dostrovsky, 1971) fire at specific locations. Boundary vector cells in the subiculum (Lever et al., 2009) and border cells in entorhinal cortex (Solstad et al., 2008) fire relative to walls. The hippocampus binds episodes to place and, through replay during rest and sleep, supports systems consolidation into neocortex (Squire and Alvarez, 1995; Wilson and McNaughton, 1994). Memory-palace training improves recall (Dresler et al., 2017). The claim for cEverything is a design hypothesis: fixed places for agents should make their state easier to recall. We have not measured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43-second laptop-view recording: walking the aisle, a pipe between chats, a live Hermes reply, the legend and the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Counted from every Claude Code transcript of this chat and its 20 sub-sessions, one entry per API call. Most tokens are cache reads: long sessions re-reading their own context. Local Hermes (qwen3:8b) tokens are not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0A0A0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tx2"/>
                </a:solidFill>
              </a:rPr>
              <a:t>cEverything · The Lokust · MOLTEN 2026</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8B8"/>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8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6LXrfWtKSlg" TargetMode="External"/><Relationship Id="rId1" Target="https://www.youtube.com/embed/6LXrfWtKSlg" TargetMode="External" Type="http://schemas.openxmlformats.org/officeDocument/2006/relationships/video"/><Relationship Id="rId2" Type="http://schemas.openxmlformats.org/officeDocument/2006/relationships/image" Target="../media/image-6-2.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pic>
        <p:nvPicPr>
          <p:cNvPr id="2" name="Hero frame" descr="/private/tmp/claude-501/-Users-ljf-GitHub-cEverything--claude-worktrees-hermes-vr-spatial-5b5bf8/19f10a9b-f754-4be0-b65f-458601f0e7a6/scratchpad/demo/th8.jpg">    </p:cNvPr>
          <p:cNvPicPr>
            <a:picLocks noChangeAspect="1"/>
          </p:cNvPicPr>
          <p:nvPr/>
        </p:nvPicPr>
        <p:blipFill>
          <a:blip r:embed="rId1"/>
          <a:srcRect l="0" r="0" t="0" b="0"/>
          <a:stretch/>
        </p:blipFill>
        <p:spPr>
          <a:xfrm>
            <a:off x="4206240" y="0"/>
            <a:ext cx="4937760" cy="5143500"/>
          </a:xfrm>
          <a:prstGeom prst="rect">
            <a:avLst/>
          </a:prstGeom>
        </p:spPr>
      </p:pic>
      <p:sp>
        <p:nvSpPr>
          <p:cNvPr id="3" name="Hero shade"/>
          <p:cNvSpPr/>
          <p:nvPr/>
        </p:nvSpPr>
        <p:spPr>
          <a:xfrm>
            <a:off x="4206240" y="0"/>
            <a:ext cx="4937760" cy="5143500"/>
          </a:xfrm>
          <a:prstGeom prst="rect">
            <a:avLst/>
          </a:prstGeom>
          <a:solidFill>
            <a:srgbClr val="0A0A0A">
              <a:alpha val="45000"/>
            </a:srgbClr>
          </a:solidFill>
          <a:ln/>
        </p:spPr>
      </p:sp>
      <p:sp>
        <p:nvSpPr>
          <p:cNvPr id="4" name="Title"/>
          <p:cNvSpPr txBox="1"/>
          <p:nvPr/>
        </p:nvSpPr>
        <p:spPr>
          <a:xfrm>
            <a:off x="457200" y="1371600"/>
            <a:ext cx="4206240" cy="914400"/>
          </a:xfrm>
          <a:prstGeom prst="rect">
            <a:avLst/>
          </a:prstGeom>
          <a:noFill/>
          <a:ln/>
        </p:spPr>
        <p:txBody>
          <a:bodyPr wrap="square" lIns="0" tIns="0" rIns="0" bIns="0" rtlCol="0" anchor="ctr"/>
          <a:lstStyle/>
          <a:p>
            <a:pPr indent="0" marL="0">
              <a:buNone/>
            </a:pPr>
            <a:r>
              <a:rPr lang="en-US" sz="4400" b="1" dirty="0">
                <a:solidFill>
                  <a:schemeClr val="tx1"/>
                </a:solidFill>
                <a:latin typeface="Cambria" pitchFamily="34" charset="0"/>
                <a:ea typeface="Cambria" pitchFamily="34" charset="-122"/>
                <a:cs typeface="Cambria" pitchFamily="34" charset="-120"/>
              </a:rPr>
              <a:t>cEverything</a:t>
            </a:r>
            <a:endParaRPr lang="en-US" sz="4400" dirty="0"/>
          </a:p>
        </p:txBody>
      </p:sp>
      <p:sp>
        <p:nvSpPr>
          <p:cNvPr id="5" name="Tagline"/>
          <p:cNvSpPr txBox="1"/>
          <p:nvPr/>
        </p:nvSpPr>
        <p:spPr>
          <a:xfrm>
            <a:off x="457200" y="2286000"/>
            <a:ext cx="3383280" cy="822960"/>
          </a:xfrm>
          <a:prstGeom prst="rect">
            <a:avLst/>
          </a:prstGeom>
          <a:noFill/>
          <a:ln/>
        </p:spPr>
        <p:txBody>
          <a:bodyPr wrap="square" lIns="0" tIns="0" rIns="0" bIns="0" rtlCol="0" anchor="ctr"/>
          <a:lstStyle/>
          <a:p>
            <a:pPr indent="0" marL="0">
              <a:buNone/>
            </a:pPr>
            <a:r>
              <a:rPr lang="en-US" sz="2000" i="1" dirty="0">
                <a:solidFill>
                  <a:schemeClr val="accent1"/>
                </a:solidFill>
              </a:rPr>
              <a:t>Your AI agents, as a room you walk through</a:t>
            </a:r>
            <a:endParaRPr lang="en-US" sz="2000" dirty="0"/>
          </a:p>
        </p:txBody>
      </p:sp>
      <p:sp>
        <p:nvSpPr>
          <p:cNvPr id="6" name="Byline"/>
          <p:cNvSpPr txBox="1"/>
          <p:nvPr/>
        </p:nvSpPr>
        <p:spPr>
          <a:xfrm>
            <a:off x="457200" y="4206240"/>
            <a:ext cx="3657600" cy="365760"/>
          </a:xfrm>
          <a:prstGeom prst="rect">
            <a:avLst/>
          </a:prstGeom>
          <a:noFill/>
          <a:ln/>
        </p:spPr>
        <p:txBody>
          <a:bodyPr wrap="square" lIns="0" tIns="0" rIns="0" bIns="0" rtlCol="0" anchor="ctr"/>
          <a:lstStyle/>
          <a:p>
            <a:pPr indent="0" marL="0">
              <a:buNone/>
            </a:pPr>
            <a:r>
              <a:rPr lang="en-US" sz="1200" dirty="0">
                <a:solidFill>
                  <a:schemeClr val="tx2"/>
                </a:solidFill>
              </a:rPr>
              <a:t>The Lokust · MOLTEN 2026 · Open track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One room for every agent you run</a:t>
            </a:r>
            <a:endParaRPr lang="en-US" sz="3200" dirty="0"/>
          </a:p>
        </p:txBody>
      </p:sp>
      <p:sp>
        <p:nvSpPr>
          <p:cNvPr id="3" name="Card 1"/>
          <p:cNvSpPr/>
          <p:nvPr/>
        </p:nvSpPr>
        <p:spPr>
          <a:xfrm>
            <a:off x="457200" y="1234440"/>
            <a:ext cx="1828800" cy="3200400"/>
          </a:xfrm>
          <a:prstGeom prst="roundRect">
            <a:avLst>
              <a:gd name="adj" fmla="val 4000"/>
            </a:avLst>
          </a:prstGeom>
          <a:solidFill>
            <a:srgbClr val="161616"/>
          </a:solidFill>
          <a:ln w="12700">
            <a:solidFill>
              <a:srgbClr val="7A1A12"/>
            </a:solidFill>
            <a:prstDash val="solid"/>
          </a:ln>
        </p:spPr>
      </p:sp>
      <p:sp>
        <p:nvSpPr>
          <p:cNvPr id="4" name="Icon circle 1"/>
          <p:cNvSpPr/>
          <p:nvPr/>
        </p:nvSpPr>
        <p:spPr>
          <a:xfrm>
            <a:off x="1051560" y="1463040"/>
            <a:ext cx="640080" cy="640080"/>
          </a:xfrm>
          <a:prstGeom prst="ellipse">
            <a:avLst/>
          </a:prstGeom>
          <a:solidFill>
            <a:srgbClr val="7A1A12"/>
          </a:solidFill>
          <a:ln/>
        </p:spPr>
      </p:sp>
      <p:pic>
        <p:nvPicPr>
          <p:cNvPr id="5" name="Icon 1" descr="preencoded.png">    </p:cNvPr>
          <p:cNvPicPr>
            <a:picLocks noChangeAspect="1"/>
          </p:cNvPicPr>
          <p:nvPr/>
        </p:nvPicPr>
        <p:blipFill>
          <a:blip r:embed="rId1"/>
          <a:stretch>
            <a:fillRect/>
          </a:stretch>
        </p:blipFill>
        <p:spPr>
          <a:xfrm>
            <a:off x="1188720" y="1600200"/>
            <a:ext cx="365760" cy="365760"/>
          </a:xfrm>
          <a:prstGeom prst="rect">
            <a:avLst/>
          </a:prstGeom>
        </p:spPr>
      </p:pic>
      <p:sp>
        <p:nvSpPr>
          <p:cNvPr id="6" name="Card head 1"/>
          <p:cNvSpPr txBox="1"/>
          <p:nvPr/>
        </p:nvSpPr>
        <p:spPr>
          <a:xfrm>
            <a:off x="594360" y="2286000"/>
            <a:ext cx="1554480" cy="548640"/>
          </a:xfrm>
          <a:prstGeom prst="rect">
            <a:avLst/>
          </a:prstGeom>
          <a:noFill/>
          <a:ln/>
        </p:spPr>
        <p:txBody>
          <a:bodyPr wrap="square" lIns="0" tIns="0" rIns="0" bIns="0" rtlCol="0" anchor="t"/>
          <a:lstStyle/>
          <a:p>
            <a:pPr indent="0" marL="0">
              <a:buNone/>
            </a:pPr>
            <a:r>
              <a:rPr lang="en-US" sz="1500" b="1" dirty="0">
                <a:solidFill>
                  <a:schemeClr val="tx1"/>
                </a:solidFill>
              </a:rPr>
              <a:t>Chats are monoliths</a:t>
            </a:r>
            <a:endParaRPr lang="en-US" sz="1500" dirty="0"/>
          </a:p>
        </p:txBody>
      </p:sp>
      <p:sp>
        <p:nvSpPr>
          <p:cNvPr id="7" name="Card body 1"/>
          <p:cNvSpPr txBox="1"/>
          <p:nvPr/>
        </p:nvSpPr>
        <p:spPr>
          <a:xfrm>
            <a:off x="594360" y="2880360"/>
            <a:ext cx="1554480" cy="1371600"/>
          </a:xfrm>
          <a:prstGeom prst="rect">
            <a:avLst/>
          </a:prstGeom>
          <a:noFill/>
          <a:ln/>
        </p:spPr>
        <p:txBody>
          <a:bodyPr wrap="square" lIns="0" tIns="0" rIns="0" bIns="0" rtlCol="0" anchor="t"/>
          <a:lstStyle/>
          <a:p>
            <a:pPr indent="0" marL="0">
              <a:buNone/>
            </a:pPr>
            <a:r>
              <a:rPr lang="en-US" sz="1200" dirty="0">
                <a:solidFill>
                  <a:schemeClr val="tx2"/>
                </a:solidFill>
              </a:rPr>
              <a:t>Each Hermes or Claude Code chat stands as a stack of its messages</a:t>
            </a:r>
            <a:endParaRPr lang="en-US" sz="1200" dirty="0"/>
          </a:p>
        </p:txBody>
      </p:sp>
      <p:sp>
        <p:nvSpPr>
          <p:cNvPr id="8" name="Card 2"/>
          <p:cNvSpPr/>
          <p:nvPr/>
        </p:nvSpPr>
        <p:spPr>
          <a:xfrm>
            <a:off x="2560320" y="1234440"/>
            <a:ext cx="1828800" cy="3200400"/>
          </a:xfrm>
          <a:prstGeom prst="roundRect">
            <a:avLst>
              <a:gd name="adj" fmla="val 4000"/>
            </a:avLst>
          </a:prstGeom>
          <a:solidFill>
            <a:srgbClr val="161616"/>
          </a:solidFill>
          <a:ln w="12700">
            <a:solidFill>
              <a:srgbClr val="7A1A12"/>
            </a:solidFill>
            <a:prstDash val="solid"/>
          </a:ln>
        </p:spPr>
      </p:sp>
      <p:sp>
        <p:nvSpPr>
          <p:cNvPr id="9" name="Icon circle 2"/>
          <p:cNvSpPr/>
          <p:nvPr/>
        </p:nvSpPr>
        <p:spPr>
          <a:xfrm>
            <a:off x="3154680" y="1463040"/>
            <a:ext cx="640080" cy="640080"/>
          </a:xfrm>
          <a:prstGeom prst="ellipse">
            <a:avLst/>
          </a:prstGeom>
          <a:solidFill>
            <a:srgbClr val="7A1A12"/>
          </a:solidFill>
          <a:ln/>
        </p:spPr>
      </p:sp>
      <p:pic>
        <p:nvPicPr>
          <p:cNvPr id="10" name="Icon 2" descr="preencoded.png">    </p:cNvPr>
          <p:cNvPicPr>
            <a:picLocks noChangeAspect="1"/>
          </p:cNvPicPr>
          <p:nvPr/>
        </p:nvPicPr>
        <p:blipFill>
          <a:blip r:embed="rId2"/>
          <a:stretch>
            <a:fillRect/>
          </a:stretch>
        </p:blipFill>
        <p:spPr>
          <a:xfrm>
            <a:off x="3291840" y="1600200"/>
            <a:ext cx="365760" cy="365760"/>
          </a:xfrm>
          <a:prstGeom prst="rect">
            <a:avLst/>
          </a:prstGeom>
        </p:spPr>
      </p:pic>
      <p:sp>
        <p:nvSpPr>
          <p:cNvPr id="11" name="Card head 2"/>
          <p:cNvSpPr txBox="1"/>
          <p:nvPr/>
        </p:nvSpPr>
        <p:spPr>
          <a:xfrm>
            <a:off x="2697480" y="2286000"/>
            <a:ext cx="1554480" cy="548640"/>
          </a:xfrm>
          <a:prstGeom prst="rect">
            <a:avLst/>
          </a:prstGeom>
          <a:noFill/>
          <a:ln/>
        </p:spPr>
        <p:txBody>
          <a:bodyPr wrap="square" lIns="0" tIns="0" rIns="0" bIns="0" rtlCol="0" anchor="t"/>
          <a:lstStyle/>
          <a:p>
            <a:pPr indent="0" marL="0">
              <a:buNone/>
            </a:pPr>
            <a:r>
              <a:rPr lang="en-US" sz="1500" b="1" dirty="0">
                <a:solidFill>
                  <a:schemeClr val="tx1"/>
                </a:solidFill>
              </a:rPr>
              <a:t>Tools are pylons</a:t>
            </a:r>
            <a:endParaRPr lang="en-US" sz="1500" dirty="0"/>
          </a:p>
        </p:txBody>
      </p:sp>
      <p:sp>
        <p:nvSpPr>
          <p:cNvPr id="12" name="Card body 2"/>
          <p:cNvSpPr txBox="1"/>
          <p:nvPr/>
        </p:nvSpPr>
        <p:spPr>
          <a:xfrm>
            <a:off x="2697480" y="2880360"/>
            <a:ext cx="1554480" cy="1371600"/>
          </a:xfrm>
          <a:prstGeom prst="rect">
            <a:avLst/>
          </a:prstGeom>
          <a:noFill/>
          <a:ln/>
        </p:spPr>
        <p:txBody>
          <a:bodyPr wrap="square" lIns="0" tIns="0" rIns="0" bIns="0" rtlCol="0" anchor="t"/>
          <a:lstStyle/>
          <a:p>
            <a:pPr indent="0" marL="0">
              <a:buNone/>
            </a:pPr>
            <a:r>
              <a:rPr lang="en-US" sz="1200" dirty="0">
                <a:solidFill>
                  <a:schemeClr val="tx2"/>
                </a:solidFill>
              </a:rPr>
              <a:t>Every tool call flies as a spark to a browser, file, shell or other pylon</a:t>
            </a:r>
            <a:endParaRPr lang="en-US" sz="1200" dirty="0"/>
          </a:p>
        </p:txBody>
      </p:sp>
      <p:sp>
        <p:nvSpPr>
          <p:cNvPr id="13" name="Card 3"/>
          <p:cNvSpPr/>
          <p:nvPr/>
        </p:nvSpPr>
        <p:spPr>
          <a:xfrm>
            <a:off x="4663440" y="1234440"/>
            <a:ext cx="1828800" cy="3200400"/>
          </a:xfrm>
          <a:prstGeom prst="roundRect">
            <a:avLst>
              <a:gd name="adj" fmla="val 4000"/>
            </a:avLst>
          </a:prstGeom>
          <a:solidFill>
            <a:srgbClr val="161616"/>
          </a:solidFill>
          <a:ln w="12700">
            <a:solidFill>
              <a:srgbClr val="7A1A12"/>
            </a:solidFill>
            <a:prstDash val="solid"/>
          </a:ln>
        </p:spPr>
      </p:sp>
      <p:sp>
        <p:nvSpPr>
          <p:cNvPr id="14" name="Icon circle 3"/>
          <p:cNvSpPr/>
          <p:nvPr/>
        </p:nvSpPr>
        <p:spPr>
          <a:xfrm>
            <a:off x="5257800" y="1463040"/>
            <a:ext cx="640080" cy="640080"/>
          </a:xfrm>
          <a:prstGeom prst="ellipse">
            <a:avLst/>
          </a:prstGeom>
          <a:solidFill>
            <a:srgbClr val="7A1A12"/>
          </a:solidFill>
          <a:ln/>
        </p:spPr>
      </p:sp>
      <p:pic>
        <p:nvPicPr>
          <p:cNvPr id="15" name="Icon 3" descr="preencoded.png">    </p:cNvPr>
          <p:cNvPicPr>
            <a:picLocks noChangeAspect="1"/>
          </p:cNvPicPr>
          <p:nvPr/>
        </p:nvPicPr>
        <p:blipFill>
          <a:blip r:embed="rId3"/>
          <a:stretch>
            <a:fillRect/>
          </a:stretch>
        </p:blipFill>
        <p:spPr>
          <a:xfrm>
            <a:off x="5394960" y="1600200"/>
            <a:ext cx="365760" cy="365760"/>
          </a:xfrm>
          <a:prstGeom prst="rect">
            <a:avLst/>
          </a:prstGeom>
        </p:spPr>
      </p:pic>
      <p:sp>
        <p:nvSpPr>
          <p:cNvPr id="16" name="Card head 3"/>
          <p:cNvSpPr txBox="1"/>
          <p:nvPr/>
        </p:nvSpPr>
        <p:spPr>
          <a:xfrm>
            <a:off x="4800600" y="2286000"/>
            <a:ext cx="1554480" cy="548640"/>
          </a:xfrm>
          <a:prstGeom prst="rect">
            <a:avLst/>
          </a:prstGeom>
          <a:noFill/>
          <a:ln/>
        </p:spPr>
        <p:txBody>
          <a:bodyPr wrap="square" lIns="0" tIns="0" rIns="0" bIns="0" rtlCol="0" anchor="t"/>
          <a:lstStyle/>
          <a:p>
            <a:pPr indent="0" marL="0">
              <a:buNone/>
            </a:pPr>
            <a:r>
              <a:rPr lang="en-US" sz="1500" b="1" dirty="0">
                <a:solidFill>
                  <a:schemeClr val="tx1"/>
                </a:solidFill>
              </a:rPr>
              <a:t>Hands and voice act</a:t>
            </a:r>
            <a:endParaRPr lang="en-US" sz="1500" dirty="0"/>
          </a:p>
        </p:txBody>
      </p:sp>
      <p:sp>
        <p:nvSpPr>
          <p:cNvPr id="17" name="Card body 3"/>
          <p:cNvSpPr txBox="1"/>
          <p:nvPr/>
        </p:nvSpPr>
        <p:spPr>
          <a:xfrm>
            <a:off x="4800600" y="2880360"/>
            <a:ext cx="1554480" cy="1371600"/>
          </a:xfrm>
          <a:prstGeom prst="rect">
            <a:avLst/>
          </a:prstGeom>
          <a:noFill/>
          <a:ln/>
        </p:spPr>
        <p:txBody>
          <a:bodyPr wrap="square" lIns="0" tIns="0" rIns="0" bIns="0" rtlCol="0" anchor="t"/>
          <a:lstStyle/>
          <a:p>
            <a:pPr indent="0" marL="0">
              <a:buNone/>
            </a:pPr>
            <a:r>
              <a:rPr lang="en-US" sz="1200" dirty="0">
                <a:solidFill>
                  <a:schemeClr val="tx2"/>
                </a:solidFill>
              </a:rPr>
              <a:t>Pinch to fork a chat or pipe a message, hold to talk</a:t>
            </a:r>
            <a:endParaRPr lang="en-US" sz="1200" dirty="0"/>
          </a:p>
        </p:txBody>
      </p:sp>
      <p:sp>
        <p:nvSpPr>
          <p:cNvPr id="18" name="Card 4"/>
          <p:cNvSpPr/>
          <p:nvPr/>
        </p:nvSpPr>
        <p:spPr>
          <a:xfrm>
            <a:off x="6766560" y="1234440"/>
            <a:ext cx="1828800" cy="3200400"/>
          </a:xfrm>
          <a:prstGeom prst="roundRect">
            <a:avLst>
              <a:gd name="adj" fmla="val 4000"/>
            </a:avLst>
          </a:prstGeom>
          <a:solidFill>
            <a:srgbClr val="161616"/>
          </a:solidFill>
          <a:ln w="12700">
            <a:solidFill>
              <a:srgbClr val="7A1A12"/>
            </a:solidFill>
            <a:prstDash val="solid"/>
          </a:ln>
        </p:spPr>
      </p:sp>
      <p:sp>
        <p:nvSpPr>
          <p:cNvPr id="19" name="Icon circle 4"/>
          <p:cNvSpPr/>
          <p:nvPr/>
        </p:nvSpPr>
        <p:spPr>
          <a:xfrm>
            <a:off x="7360920" y="1463040"/>
            <a:ext cx="640080" cy="640080"/>
          </a:xfrm>
          <a:prstGeom prst="ellipse">
            <a:avLst/>
          </a:prstGeom>
          <a:solidFill>
            <a:srgbClr val="7A1A12"/>
          </a:solidFill>
          <a:ln/>
        </p:spPr>
      </p:sp>
      <p:pic>
        <p:nvPicPr>
          <p:cNvPr id="20" name="Icon 4" descr="preencoded.png">    </p:cNvPr>
          <p:cNvPicPr>
            <a:picLocks noChangeAspect="1"/>
          </p:cNvPicPr>
          <p:nvPr/>
        </p:nvPicPr>
        <p:blipFill>
          <a:blip r:embed="rId4"/>
          <a:stretch>
            <a:fillRect/>
          </a:stretch>
        </p:blipFill>
        <p:spPr>
          <a:xfrm>
            <a:off x="7498080" y="1600200"/>
            <a:ext cx="365760" cy="365760"/>
          </a:xfrm>
          <a:prstGeom prst="rect">
            <a:avLst/>
          </a:prstGeom>
        </p:spPr>
      </p:pic>
      <p:sp>
        <p:nvSpPr>
          <p:cNvPr id="21" name="Card head 4"/>
          <p:cNvSpPr txBox="1"/>
          <p:nvPr/>
        </p:nvSpPr>
        <p:spPr>
          <a:xfrm>
            <a:off x="6903720" y="2286000"/>
            <a:ext cx="1554480" cy="548640"/>
          </a:xfrm>
          <a:prstGeom prst="rect">
            <a:avLst/>
          </a:prstGeom>
          <a:noFill/>
          <a:ln/>
        </p:spPr>
        <p:txBody>
          <a:bodyPr wrap="square" lIns="0" tIns="0" rIns="0" bIns="0" rtlCol="0" anchor="t"/>
          <a:lstStyle/>
          <a:p>
            <a:pPr indent="0" marL="0">
              <a:buNone/>
            </a:pPr>
            <a:r>
              <a:rPr lang="en-US" sz="1500" b="1" dirty="0">
                <a:solidFill>
                  <a:schemeClr val="tx1"/>
                </a:solidFill>
              </a:rPr>
              <a:t>Laptops join in</a:t>
            </a:r>
            <a:endParaRPr lang="en-US" sz="1500" dirty="0"/>
          </a:p>
        </p:txBody>
      </p:sp>
      <p:sp>
        <p:nvSpPr>
          <p:cNvPr id="22" name="Card body 4"/>
          <p:cNvSpPr txBox="1"/>
          <p:nvPr/>
        </p:nvSpPr>
        <p:spPr>
          <a:xfrm>
            <a:off x="6903720" y="2880360"/>
            <a:ext cx="1554480" cy="1371600"/>
          </a:xfrm>
          <a:prstGeom prst="rect">
            <a:avLst/>
          </a:prstGeom>
          <a:noFill/>
          <a:ln/>
        </p:spPr>
        <p:txBody>
          <a:bodyPr wrap="square" lIns="0" tIns="0" rIns="0" bIns="0" rtlCol="0" anchor="t"/>
          <a:lstStyle/>
          <a:p>
            <a:pPr indent="0" marL="0">
              <a:buNone/>
            </a:pPr>
            <a:r>
              <a:rPr lang="en-US" sz="1200" dirty="0">
                <a:solidFill>
                  <a:schemeClr val="tx2"/>
                </a:solidFill>
              </a:rPr>
              <a:t>Others watch, scrub the timeline and type from a laptop or phone</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8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Why a room: memory is spatial</a:t>
            </a:r>
            <a:endParaRPr lang="en-US" sz="3200" dirty="0"/>
          </a:p>
        </p:txBody>
      </p:sp>
      <p:sp>
        <p:nvSpPr>
          <p:cNvPr id="3" name="Brain icon circle 1"/>
          <p:cNvSpPr/>
          <p:nvPr/>
        </p:nvSpPr>
        <p:spPr>
          <a:xfrm>
            <a:off x="457200" y="1143000"/>
            <a:ext cx="548640" cy="548640"/>
          </a:xfrm>
          <a:prstGeom prst="ellipse">
            <a:avLst/>
          </a:prstGeom>
          <a:solidFill>
            <a:srgbClr val="7A1A12"/>
          </a:solidFill>
          <a:ln/>
        </p:spPr>
      </p:sp>
      <p:pic>
        <p:nvPicPr>
          <p:cNvPr id="4" name="Brain icon 1" descr="preencoded.png">    </p:cNvPr>
          <p:cNvPicPr>
            <a:picLocks noChangeAspect="1"/>
          </p:cNvPicPr>
          <p:nvPr/>
        </p:nvPicPr>
        <p:blipFill>
          <a:blip r:embed="rId1"/>
          <a:stretch>
            <a:fillRect/>
          </a:stretch>
        </p:blipFill>
        <p:spPr>
          <a:xfrm>
            <a:off x="585216" y="1271016"/>
            <a:ext cx="292608" cy="292608"/>
          </a:xfrm>
          <a:prstGeom prst="rect">
            <a:avLst/>
          </a:prstGeom>
        </p:spPr>
      </p:pic>
      <p:sp>
        <p:nvSpPr>
          <p:cNvPr id="5" name="Brain head 1"/>
          <p:cNvSpPr txBox="1"/>
          <p:nvPr/>
        </p:nvSpPr>
        <p:spPr>
          <a:xfrm>
            <a:off x="1188720" y="1097280"/>
            <a:ext cx="3291840" cy="320040"/>
          </a:xfrm>
          <a:prstGeom prst="rect">
            <a:avLst/>
          </a:prstGeom>
          <a:noFill/>
          <a:ln/>
        </p:spPr>
        <p:txBody>
          <a:bodyPr wrap="square" lIns="0" tIns="0" rIns="0" bIns="0" rtlCol="0" anchor="ctr"/>
          <a:lstStyle/>
          <a:p>
            <a:pPr indent="0" marL="0">
              <a:buNone/>
            </a:pPr>
            <a:r>
              <a:rPr lang="en-US" sz="1500" b="1" dirty="0">
                <a:solidFill>
                  <a:schemeClr val="tx1"/>
                </a:solidFill>
              </a:rPr>
              <a:t>Place cells</a:t>
            </a:r>
            <a:endParaRPr lang="en-US" sz="1500" dirty="0"/>
          </a:p>
        </p:txBody>
      </p:sp>
      <p:sp>
        <p:nvSpPr>
          <p:cNvPr id="6" name="Brain body 1"/>
          <p:cNvSpPr txBox="1"/>
          <p:nvPr/>
        </p:nvSpPr>
        <p:spPr>
          <a:xfrm>
            <a:off x="1188720" y="1417320"/>
            <a:ext cx="3291840" cy="731520"/>
          </a:xfrm>
          <a:prstGeom prst="rect">
            <a:avLst/>
          </a:prstGeom>
          <a:noFill/>
          <a:ln/>
        </p:spPr>
        <p:txBody>
          <a:bodyPr wrap="square" lIns="0" tIns="0" rIns="0" bIns="0" rtlCol="0" anchor="t"/>
          <a:lstStyle/>
          <a:p>
            <a:pPr indent="0" marL="0">
              <a:buNone/>
            </a:pPr>
            <a:r>
              <a:rPr lang="en-US" sz="1200" dirty="0">
                <a:solidFill>
                  <a:schemeClr val="tx2"/>
                </a:solidFill>
              </a:rPr>
              <a:t>Hippocampal neurons fire when you stand at one spot. A stable place becomes a memory address.</a:t>
            </a:r>
            <a:endParaRPr lang="en-US" sz="1200" dirty="0"/>
          </a:p>
        </p:txBody>
      </p:sp>
      <p:sp>
        <p:nvSpPr>
          <p:cNvPr id="7" name="Brain icon circle 2"/>
          <p:cNvSpPr/>
          <p:nvPr/>
        </p:nvSpPr>
        <p:spPr>
          <a:xfrm>
            <a:off x="457200" y="2258568"/>
            <a:ext cx="548640" cy="548640"/>
          </a:xfrm>
          <a:prstGeom prst="ellipse">
            <a:avLst/>
          </a:prstGeom>
          <a:solidFill>
            <a:srgbClr val="7A1A12"/>
          </a:solidFill>
          <a:ln/>
        </p:spPr>
      </p:sp>
      <p:pic>
        <p:nvPicPr>
          <p:cNvPr id="8" name="Brain icon 2" descr="preencoded.png">    </p:cNvPr>
          <p:cNvPicPr>
            <a:picLocks noChangeAspect="1"/>
          </p:cNvPicPr>
          <p:nvPr/>
        </p:nvPicPr>
        <p:blipFill>
          <a:blip r:embed="rId2"/>
          <a:stretch>
            <a:fillRect/>
          </a:stretch>
        </p:blipFill>
        <p:spPr>
          <a:xfrm>
            <a:off x="585216" y="2386584"/>
            <a:ext cx="292608" cy="292608"/>
          </a:xfrm>
          <a:prstGeom prst="rect">
            <a:avLst/>
          </a:prstGeom>
        </p:spPr>
      </p:pic>
      <p:sp>
        <p:nvSpPr>
          <p:cNvPr id="9" name="Brain head 2"/>
          <p:cNvSpPr txBox="1"/>
          <p:nvPr/>
        </p:nvSpPr>
        <p:spPr>
          <a:xfrm>
            <a:off x="1188720" y="2212848"/>
            <a:ext cx="3291840" cy="320040"/>
          </a:xfrm>
          <a:prstGeom prst="rect">
            <a:avLst/>
          </a:prstGeom>
          <a:noFill/>
          <a:ln/>
        </p:spPr>
        <p:txBody>
          <a:bodyPr wrap="square" lIns="0" tIns="0" rIns="0" bIns="0" rtlCol="0" anchor="ctr"/>
          <a:lstStyle/>
          <a:p>
            <a:pPr indent="0" marL="0">
              <a:buNone/>
            </a:pPr>
            <a:r>
              <a:rPr lang="en-US" sz="1500" b="1" dirty="0">
                <a:solidFill>
                  <a:schemeClr val="tx1"/>
                </a:solidFill>
              </a:rPr>
              <a:t>Boundary cells</a:t>
            </a:r>
            <a:endParaRPr lang="en-US" sz="1500" dirty="0"/>
          </a:p>
        </p:txBody>
      </p:sp>
      <p:sp>
        <p:nvSpPr>
          <p:cNvPr id="10" name="Brain body 2"/>
          <p:cNvSpPr txBox="1"/>
          <p:nvPr/>
        </p:nvSpPr>
        <p:spPr>
          <a:xfrm>
            <a:off x="1188720" y="2532888"/>
            <a:ext cx="3291840" cy="731520"/>
          </a:xfrm>
          <a:prstGeom prst="rect">
            <a:avLst/>
          </a:prstGeom>
          <a:noFill/>
          <a:ln/>
        </p:spPr>
        <p:txBody>
          <a:bodyPr wrap="square" lIns="0" tIns="0" rIns="0" bIns="0" rtlCol="0" anchor="t"/>
          <a:lstStyle/>
          <a:p>
            <a:pPr indent="0" marL="0">
              <a:buNone/>
            </a:pPr>
            <a:r>
              <a:rPr lang="en-US" sz="1200" dirty="0">
                <a:solidFill>
                  <a:schemeClr val="tx2"/>
                </a:solidFill>
              </a:rPr>
              <a:t>Neurons near the hippocampus fire at set distances from walls and edges, anchoring that map.</a:t>
            </a:r>
            <a:endParaRPr lang="en-US" sz="1200" dirty="0"/>
          </a:p>
        </p:txBody>
      </p:sp>
      <p:sp>
        <p:nvSpPr>
          <p:cNvPr id="11" name="Brain icon circle 3"/>
          <p:cNvSpPr/>
          <p:nvPr/>
        </p:nvSpPr>
        <p:spPr>
          <a:xfrm>
            <a:off x="457200" y="3374136"/>
            <a:ext cx="548640" cy="548640"/>
          </a:xfrm>
          <a:prstGeom prst="ellipse">
            <a:avLst/>
          </a:prstGeom>
          <a:solidFill>
            <a:srgbClr val="7A1A12"/>
          </a:solidFill>
          <a:ln/>
        </p:spPr>
      </p:sp>
      <p:pic>
        <p:nvPicPr>
          <p:cNvPr id="12" name="Brain icon 3" descr="preencoded.png">    </p:cNvPr>
          <p:cNvPicPr>
            <a:picLocks noChangeAspect="1"/>
          </p:cNvPicPr>
          <p:nvPr/>
        </p:nvPicPr>
        <p:blipFill>
          <a:blip r:embed="rId3"/>
          <a:stretch>
            <a:fillRect/>
          </a:stretch>
        </p:blipFill>
        <p:spPr>
          <a:xfrm>
            <a:off x="585216" y="3502152"/>
            <a:ext cx="292608" cy="292608"/>
          </a:xfrm>
          <a:prstGeom prst="rect">
            <a:avLst/>
          </a:prstGeom>
        </p:spPr>
      </p:pic>
      <p:sp>
        <p:nvSpPr>
          <p:cNvPr id="13" name="Brain head 3"/>
          <p:cNvSpPr txBox="1"/>
          <p:nvPr/>
        </p:nvSpPr>
        <p:spPr>
          <a:xfrm>
            <a:off x="1188720" y="3328416"/>
            <a:ext cx="3291840" cy="320040"/>
          </a:xfrm>
          <a:prstGeom prst="rect">
            <a:avLst/>
          </a:prstGeom>
          <a:noFill/>
          <a:ln/>
        </p:spPr>
        <p:txBody>
          <a:bodyPr wrap="square" lIns="0" tIns="0" rIns="0" bIns="0" rtlCol="0" anchor="ctr"/>
          <a:lstStyle/>
          <a:p>
            <a:pPr indent="0" marL="0">
              <a:buNone/>
            </a:pPr>
            <a:r>
              <a:rPr lang="en-US" sz="1500" b="1" dirty="0">
                <a:solidFill>
                  <a:schemeClr val="tx1"/>
                </a:solidFill>
              </a:rPr>
              <a:t>Consolidation</a:t>
            </a:r>
            <a:endParaRPr lang="en-US" sz="1500" dirty="0"/>
          </a:p>
        </p:txBody>
      </p:sp>
      <p:sp>
        <p:nvSpPr>
          <p:cNvPr id="14" name="Brain body 3"/>
          <p:cNvSpPr txBox="1"/>
          <p:nvPr/>
        </p:nvSpPr>
        <p:spPr>
          <a:xfrm>
            <a:off x="1188720" y="3648456"/>
            <a:ext cx="3291840" cy="731520"/>
          </a:xfrm>
          <a:prstGeom prst="rect">
            <a:avLst/>
          </a:prstGeom>
          <a:noFill/>
          <a:ln/>
        </p:spPr>
        <p:txBody>
          <a:bodyPr wrap="square" lIns="0" tIns="0" rIns="0" bIns="0" rtlCol="0" anchor="t"/>
          <a:lstStyle/>
          <a:p>
            <a:pPr indent="0" marL="0">
              <a:buNone/>
            </a:pPr>
            <a:r>
              <a:rPr lang="en-US" sz="1200" dirty="0">
                <a:solidFill>
                  <a:schemeClr val="tx2"/>
                </a:solidFill>
              </a:rPr>
              <a:t>The hippocampus binds each episode to where it happened, then replays it in rest and sleep into long-term cortical memory.</a:t>
            </a:r>
            <a:endParaRPr lang="en-US" sz="1200" dirty="0"/>
          </a:p>
        </p:txBody>
      </p:sp>
      <p:sp>
        <p:nvSpPr>
          <p:cNvPr id="15" name="Design card"/>
          <p:cNvSpPr/>
          <p:nvPr/>
        </p:nvSpPr>
        <p:spPr>
          <a:xfrm>
            <a:off x="4846320" y="1143000"/>
            <a:ext cx="3840480" cy="3291840"/>
          </a:xfrm>
          <a:prstGeom prst="roundRect">
            <a:avLst>
              <a:gd name="adj" fmla="val 2222"/>
            </a:avLst>
          </a:prstGeom>
          <a:solidFill>
            <a:srgbClr val="161616"/>
          </a:solidFill>
          <a:ln w="12700">
            <a:solidFill>
              <a:srgbClr val="7A1A12"/>
            </a:solidFill>
            <a:prstDash val="solid"/>
          </a:ln>
        </p:spPr>
      </p:sp>
      <p:sp>
        <p:nvSpPr>
          <p:cNvPr id="16" name="Design head"/>
          <p:cNvSpPr txBox="1"/>
          <p:nvPr/>
        </p:nvSpPr>
        <p:spPr>
          <a:xfrm>
            <a:off x="5074920" y="1280160"/>
            <a:ext cx="3383280" cy="365760"/>
          </a:xfrm>
          <a:prstGeom prst="rect">
            <a:avLst/>
          </a:prstGeom>
          <a:noFill/>
          <a:ln/>
        </p:spPr>
        <p:txBody>
          <a:bodyPr wrap="square" lIns="0" tIns="0" rIns="0" bIns="0" rtlCol="0" anchor="ctr"/>
          <a:lstStyle/>
          <a:p>
            <a:pPr indent="0" marL="0">
              <a:buNone/>
            </a:pPr>
            <a:r>
              <a:rPr lang="en-US" sz="1500" b="1" dirty="0">
                <a:solidFill>
                  <a:schemeClr val="accent1"/>
                </a:solidFill>
              </a:rPr>
              <a:t>So the room is built for it</a:t>
            </a:r>
            <a:endParaRPr lang="en-US" sz="1500" dirty="0"/>
          </a:p>
        </p:txBody>
      </p:sp>
      <p:sp>
        <p:nvSpPr>
          <p:cNvPr id="17" name="Design points"/>
          <p:cNvSpPr txBox="1"/>
          <p:nvPr/>
        </p:nvSpPr>
        <p:spPr>
          <a:xfrm>
            <a:off x="5074920" y="1737360"/>
            <a:ext cx="342900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Every chat keeps a fixed place, so you remember where it lives</a:t>
            </a:r>
            <a:endParaRPr lang="en-US" sz="1300" dirty="0"/>
          </a:p>
          <a:p>
            <a:pPr marL="342900" indent="-342900">
              <a:spcAft>
                <a:spcPts val="600"/>
              </a:spcAft>
              <a:buSzPct val="100000"/>
              <a:buChar char="•"/>
            </a:pPr>
            <a:r>
              <a:rPr lang="en-US" sz="1300" dirty="0">
                <a:solidFill>
                  <a:schemeClr val="tx1"/>
                </a:solidFill>
              </a:rPr>
              <a:t>One aisle with walls and pylons gives clear boundaries</a:t>
            </a:r>
            <a:endParaRPr lang="en-US" sz="1300" dirty="0"/>
          </a:p>
          <a:p>
            <a:pPr marL="342900" indent="-342900">
              <a:spcAft>
                <a:spcPts val="600"/>
              </a:spcAft>
              <a:buSzPct val="100000"/>
              <a:buChar char="•"/>
            </a:pPr>
            <a:r>
              <a:rPr lang="en-US" sz="1300" dirty="0">
                <a:solidFill>
                  <a:schemeClr val="tx1"/>
                </a:solidFill>
              </a:rPr>
              <a:t>Walking and turning to read engage your sense of place</a:t>
            </a:r>
            <a:endParaRPr lang="en-US" sz="1300" dirty="0"/>
          </a:p>
          <a:p>
            <a:pPr marL="342900" indent="-342900">
              <a:spcAft>
                <a:spcPts val="600"/>
              </a:spcAft>
              <a:buSzPct val="100000"/>
              <a:buChar char="•"/>
            </a:pPr>
            <a:r>
              <a:rPr lang="en-US" sz="1300" dirty="0">
                <a:solidFill>
                  <a:schemeClr val="tx1"/>
                </a:solidFill>
              </a:rPr>
              <a:t>Returning to a spot cues what that agent was doing, like a memory palace</a:t>
            </a:r>
            <a:endParaRPr lang="en-US" sz="1300" dirty="0"/>
          </a:p>
        </p:txBody>
      </p:sp>
      <p:sp>
        <p:nvSpPr>
          <p:cNvPr id="18" name="Quote"/>
          <p:cNvSpPr txBox="1"/>
          <p:nvPr/>
        </p:nvSpPr>
        <p:spPr>
          <a:xfrm>
            <a:off x="5074920" y="3657600"/>
            <a:ext cx="3429000" cy="685800"/>
          </a:xfrm>
          <a:prstGeom prst="rect">
            <a:avLst/>
          </a:prstGeom>
          <a:noFill/>
          <a:ln/>
        </p:spPr>
        <p:txBody>
          <a:bodyPr wrap="square" lIns="0" tIns="0" rIns="0" bIns="0" rtlCol="0" anchor="ctr"/>
          <a:lstStyle/>
          <a:p>
            <a:pPr indent="0" marL="0">
              <a:buNone/>
            </a:pPr>
            <a:r>
              <a:rPr lang="en-US" sz="1500" i="1" dirty="0">
                <a:solidFill>
                  <a:schemeClr val="accent1"/>
                </a:solidFill>
                <a:latin typeface="Cambria" pitchFamily="34" charset="0"/>
                <a:ea typeface="Cambria" pitchFamily="34" charset="-122"/>
                <a:cs typeface="Cambria" pitchFamily="34" charset="-120"/>
              </a:rPr>
              <a:t>“It’s just easier to keep track of your chats if they are somewhere in your room.”</a:t>
            </a:r>
            <a:endParaRPr lang="en-US" sz="1500" dirty="0"/>
          </a:p>
        </p:txBody>
      </p:sp>
      <p:sp>
        <p:nvSpPr>
          <p:cNvPr id="19" name="Sources"/>
          <p:cNvSpPr txBox="1"/>
          <p:nvPr/>
        </p:nvSpPr>
        <p:spPr>
          <a:xfrm>
            <a:off x="457200" y="4498848"/>
            <a:ext cx="8229600" cy="228600"/>
          </a:xfrm>
          <a:prstGeom prst="rect">
            <a:avLst/>
          </a:prstGeom>
          <a:noFill/>
          <a:ln/>
        </p:spPr>
        <p:txBody>
          <a:bodyPr wrap="square" lIns="0" tIns="0" rIns="0" bIns="0" rtlCol="0" anchor="ctr"/>
          <a:lstStyle/>
          <a:p>
            <a:pPr indent="0" marL="0">
              <a:buNone/>
            </a:pPr>
            <a:r>
              <a:rPr lang="en-US" sz="900" dirty="0">
                <a:solidFill>
                  <a:schemeClr val="tx2"/>
                </a:solidFill>
              </a:rPr>
              <a:t>O'Keefe and Dostrovsky 1971 · Lever et al. 2009 · Squire and Alvarez 1995 · Dresler et al. 2017</a:t>
            </a:r>
            <a:endParaRPr lang="en-US" sz="9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8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Walk the aisle, live</a:t>
            </a:r>
            <a:endParaRPr lang="en-US" sz="3200" dirty="0"/>
          </a:p>
        </p:txBody>
      </p:sp>
      <p:pic>
        <p:nvPicPr>
          <p:cNvPr id="3" name="Demo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417320" y="1097280"/>
            <a:ext cx="6309360" cy="3547872"/>
          </a:xfrm>
          <a:prstGeom prst="rect">
            <a:avLst/>
          </a:prstGeom>
        </p:spPr>
      </p:pic>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8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Built in one day by a team of AI agents</a:t>
            </a:r>
            <a:endParaRPr lang="en-US" sz="3200" dirty="0"/>
          </a:p>
        </p:txBody>
      </p:sp>
      <p:sp>
        <p:nvSpPr>
          <p:cNvPr id="3" name="Stat 1"/>
          <p:cNvSpPr txBox="1"/>
          <p:nvPr/>
        </p:nvSpPr>
        <p:spPr>
          <a:xfrm>
            <a:off x="457200" y="1188720"/>
            <a:ext cx="1737360" cy="457200"/>
          </a:xfrm>
          <a:prstGeom prst="rect">
            <a:avLst/>
          </a:prstGeom>
          <a:noFill/>
          <a:ln/>
        </p:spPr>
        <p:txBody>
          <a:bodyPr wrap="square" lIns="0" tIns="0" rIns="0" bIns="0" rtlCol="0" anchor="ctr"/>
          <a:lstStyle/>
          <a:p>
            <a:pPr indent="0" marL="0">
              <a:buNone/>
            </a:pPr>
            <a:r>
              <a:rPr lang="en-US" sz="3000" b="1" dirty="0">
                <a:solidFill>
                  <a:schemeClr val="accent1"/>
                </a:solidFill>
              </a:rPr>
              <a:t>812M</a:t>
            </a:r>
            <a:endParaRPr lang="en-US" sz="3000" dirty="0"/>
          </a:p>
        </p:txBody>
      </p:sp>
      <p:sp>
        <p:nvSpPr>
          <p:cNvPr id="4" name="Stat label 1"/>
          <p:cNvSpPr txBox="1"/>
          <p:nvPr/>
        </p:nvSpPr>
        <p:spPr>
          <a:xfrm>
            <a:off x="2286000" y="1188720"/>
            <a:ext cx="1828800" cy="457200"/>
          </a:xfrm>
          <a:prstGeom prst="rect">
            <a:avLst/>
          </a:prstGeom>
          <a:noFill/>
          <a:ln/>
        </p:spPr>
        <p:txBody>
          <a:bodyPr wrap="square" lIns="0" tIns="0" rIns="0" bIns="0" rtlCol="0" anchor="ctr"/>
          <a:lstStyle/>
          <a:p>
            <a:pPr indent="0" marL="0">
              <a:buNone/>
            </a:pPr>
            <a:r>
              <a:rPr lang="en-US" sz="1400" dirty="0">
                <a:solidFill>
                  <a:schemeClr val="tx2"/>
                </a:solidFill>
              </a:rPr>
              <a:t>tokens processed</a:t>
            </a:r>
            <a:endParaRPr lang="en-US" sz="1400" dirty="0"/>
          </a:p>
        </p:txBody>
      </p:sp>
      <p:sp>
        <p:nvSpPr>
          <p:cNvPr id="5" name="Stat 2"/>
          <p:cNvSpPr txBox="1"/>
          <p:nvPr/>
        </p:nvSpPr>
        <p:spPr>
          <a:xfrm>
            <a:off x="457200" y="1874520"/>
            <a:ext cx="1737360" cy="457200"/>
          </a:xfrm>
          <a:prstGeom prst="rect">
            <a:avLst/>
          </a:prstGeom>
          <a:noFill/>
          <a:ln/>
        </p:spPr>
        <p:txBody>
          <a:bodyPr wrap="square" lIns="0" tIns="0" rIns="0" bIns="0" rtlCol="0" anchor="ctr"/>
          <a:lstStyle/>
          <a:p>
            <a:pPr indent="0" marL="0">
              <a:buNone/>
            </a:pPr>
            <a:r>
              <a:rPr lang="en-US" sz="3000" b="1" dirty="0">
                <a:solidFill>
                  <a:schemeClr val="accent1"/>
                </a:solidFill>
              </a:rPr>
              <a:t>5,712</a:t>
            </a:r>
            <a:endParaRPr lang="en-US" sz="3000" dirty="0"/>
          </a:p>
        </p:txBody>
      </p:sp>
      <p:sp>
        <p:nvSpPr>
          <p:cNvPr id="6" name="Stat label 2"/>
          <p:cNvSpPr txBox="1"/>
          <p:nvPr/>
        </p:nvSpPr>
        <p:spPr>
          <a:xfrm>
            <a:off x="2286000" y="1874520"/>
            <a:ext cx="1828800" cy="457200"/>
          </a:xfrm>
          <a:prstGeom prst="rect">
            <a:avLst/>
          </a:prstGeom>
          <a:noFill/>
          <a:ln/>
        </p:spPr>
        <p:txBody>
          <a:bodyPr wrap="square" lIns="0" tIns="0" rIns="0" bIns="0" rtlCol="0" anchor="ctr"/>
          <a:lstStyle/>
          <a:p>
            <a:pPr indent="0" marL="0">
              <a:buNone/>
            </a:pPr>
            <a:r>
              <a:rPr lang="en-US" sz="1400" dirty="0">
                <a:solidFill>
                  <a:schemeClr val="tx2"/>
                </a:solidFill>
              </a:rPr>
              <a:t>model calls</a:t>
            </a:r>
            <a:endParaRPr lang="en-US" sz="1400" dirty="0"/>
          </a:p>
        </p:txBody>
      </p:sp>
      <p:sp>
        <p:nvSpPr>
          <p:cNvPr id="7" name="Stat 3"/>
          <p:cNvSpPr txBox="1"/>
          <p:nvPr/>
        </p:nvSpPr>
        <p:spPr>
          <a:xfrm>
            <a:off x="457200" y="2560320"/>
            <a:ext cx="1737360" cy="457200"/>
          </a:xfrm>
          <a:prstGeom prst="rect">
            <a:avLst/>
          </a:prstGeom>
          <a:noFill/>
          <a:ln/>
        </p:spPr>
        <p:txBody>
          <a:bodyPr wrap="square" lIns="0" tIns="0" rIns="0" bIns="0" rtlCol="0" anchor="ctr"/>
          <a:lstStyle/>
          <a:p>
            <a:pPr indent="0" marL="0">
              <a:buNone/>
            </a:pPr>
            <a:r>
              <a:rPr lang="en-US" sz="3000" b="1" dirty="0">
                <a:solidFill>
                  <a:schemeClr val="accent1"/>
                </a:solidFill>
              </a:rPr>
              <a:t>21</a:t>
            </a:r>
            <a:endParaRPr lang="en-US" sz="3000" dirty="0"/>
          </a:p>
        </p:txBody>
      </p:sp>
      <p:sp>
        <p:nvSpPr>
          <p:cNvPr id="8" name="Stat label 3"/>
          <p:cNvSpPr txBox="1"/>
          <p:nvPr/>
        </p:nvSpPr>
        <p:spPr>
          <a:xfrm>
            <a:off x="2286000" y="2560320"/>
            <a:ext cx="1828800" cy="457200"/>
          </a:xfrm>
          <a:prstGeom prst="rect">
            <a:avLst/>
          </a:prstGeom>
          <a:noFill/>
          <a:ln/>
        </p:spPr>
        <p:txBody>
          <a:bodyPr wrap="square" lIns="0" tIns="0" rIns="0" bIns="0" rtlCol="0" anchor="ctr"/>
          <a:lstStyle/>
          <a:p>
            <a:pPr indent="0" marL="0">
              <a:buNone/>
            </a:pPr>
            <a:r>
              <a:rPr lang="en-US" sz="1400" dirty="0">
                <a:solidFill>
                  <a:schemeClr val="tx2"/>
                </a:solidFill>
              </a:rPr>
              <a:t>agent sessions</a:t>
            </a:r>
            <a:endParaRPr lang="en-US" sz="1400" dirty="0"/>
          </a:p>
        </p:txBody>
      </p:sp>
      <p:sp>
        <p:nvSpPr>
          <p:cNvPr id="9" name="Stat 4"/>
          <p:cNvSpPr txBox="1"/>
          <p:nvPr/>
        </p:nvSpPr>
        <p:spPr>
          <a:xfrm>
            <a:off x="457200" y="3246120"/>
            <a:ext cx="1737360" cy="457200"/>
          </a:xfrm>
          <a:prstGeom prst="rect">
            <a:avLst/>
          </a:prstGeom>
          <a:noFill/>
          <a:ln/>
        </p:spPr>
        <p:txBody>
          <a:bodyPr wrap="square" lIns="0" tIns="0" rIns="0" bIns="0" rtlCol="0" anchor="ctr"/>
          <a:lstStyle/>
          <a:p>
            <a:pPr indent="0" marL="0">
              <a:buNone/>
            </a:pPr>
            <a:r>
              <a:rPr lang="en-US" sz="3000" b="1" dirty="0">
                <a:solidFill>
                  <a:schemeClr val="accent1"/>
                </a:solidFill>
              </a:rPr>
              <a:t>42</a:t>
            </a:r>
            <a:endParaRPr lang="en-US" sz="3000" dirty="0"/>
          </a:p>
        </p:txBody>
      </p:sp>
      <p:sp>
        <p:nvSpPr>
          <p:cNvPr id="10" name="Stat label 4"/>
          <p:cNvSpPr txBox="1"/>
          <p:nvPr/>
        </p:nvSpPr>
        <p:spPr>
          <a:xfrm>
            <a:off x="2286000" y="3246120"/>
            <a:ext cx="1828800" cy="457200"/>
          </a:xfrm>
          <a:prstGeom prst="rect">
            <a:avLst/>
          </a:prstGeom>
          <a:noFill/>
          <a:ln/>
        </p:spPr>
        <p:txBody>
          <a:bodyPr wrap="square" lIns="0" tIns="0" rIns="0" bIns="0" rtlCol="0" anchor="ctr"/>
          <a:lstStyle/>
          <a:p>
            <a:pPr indent="0" marL="0">
              <a:buNone/>
            </a:pPr>
            <a:r>
              <a:rPr lang="en-US" sz="1400" dirty="0">
                <a:solidFill>
                  <a:schemeClr val="tx2"/>
                </a:solidFill>
              </a:rPr>
              <a:t>PRs merged</a:t>
            </a:r>
            <a:endParaRPr lang="en-US" sz="1400" dirty="0"/>
          </a:p>
        </p:txBody>
      </p:sp>
      <p:sp>
        <p:nvSpPr>
          <p:cNvPr id="11" name="Stat 5"/>
          <p:cNvSpPr txBox="1"/>
          <p:nvPr/>
        </p:nvSpPr>
        <p:spPr>
          <a:xfrm>
            <a:off x="457200" y="3931920"/>
            <a:ext cx="1737360" cy="457200"/>
          </a:xfrm>
          <a:prstGeom prst="rect">
            <a:avLst/>
          </a:prstGeom>
          <a:noFill/>
          <a:ln/>
        </p:spPr>
        <p:txBody>
          <a:bodyPr wrap="square" lIns="0" tIns="0" rIns="0" bIns="0" rtlCol="0" anchor="ctr"/>
          <a:lstStyle/>
          <a:p>
            <a:pPr indent="0" marL="0">
              <a:buNone/>
            </a:pPr>
            <a:r>
              <a:rPr lang="en-US" sz="3000" b="1" dirty="0">
                <a:solidFill>
                  <a:schemeClr val="accent1"/>
                </a:solidFill>
              </a:rPr>
              <a:t>229</a:t>
            </a:r>
            <a:endParaRPr lang="en-US" sz="3000" dirty="0"/>
          </a:p>
        </p:txBody>
      </p:sp>
      <p:sp>
        <p:nvSpPr>
          <p:cNvPr id="12" name="Stat label 5"/>
          <p:cNvSpPr txBox="1"/>
          <p:nvPr/>
        </p:nvSpPr>
        <p:spPr>
          <a:xfrm>
            <a:off x="2286000" y="3931920"/>
            <a:ext cx="1828800" cy="457200"/>
          </a:xfrm>
          <a:prstGeom prst="rect">
            <a:avLst/>
          </a:prstGeom>
          <a:noFill/>
          <a:ln/>
        </p:spPr>
        <p:txBody>
          <a:bodyPr wrap="square" lIns="0" tIns="0" rIns="0" bIns="0" rtlCol="0" anchor="ctr"/>
          <a:lstStyle/>
          <a:p>
            <a:pPr indent="0" marL="0">
              <a:buNone/>
            </a:pPr>
            <a:r>
              <a:rPr lang="en-US" sz="1400" dirty="0">
                <a:solidFill>
                  <a:schemeClr val="tx2"/>
                </a:solidFill>
              </a:rPr>
              <a:t>tests passing</a:t>
            </a:r>
            <a:endParaRPr lang="en-US" sz="1400" dirty="0"/>
          </a:p>
        </p:txBody>
      </p:sp>
      <p:graphicFrame>
        <p:nvGraphicFramePr>
          <p:cNvPr id="13" name="Token chart" descr=""/>
          <p:cNvGraphicFramePr/>
          <p:nvPr/>
        </p:nvGraphicFramePr>
        <p:xfrm>
          <a:off x="4572000" y="1097280"/>
          <a:ext cx="4114800"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8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One more thing</a:t>
            </a:r>
            <a:endParaRPr lang="en-US" sz="3200" dirty="0"/>
          </a:p>
        </p:txBody>
      </p:sp>
      <p:pic>
        <p:nvPicPr>
          <p:cNvPr id="3" name="YouTube video"/>
          <p:cNvPicPr/>
          <p:nvPr>
            <a:videoFile r:link="rId1"/>
          </p:nvPr>
        </p:nvPicPr>
        <p:blipFill>
          <a:blip r:embed="rId2"/>
          <a:stretch>
            <a:fillRect/>
          </a:stretch>
        </p:blipFill>
        <p:spPr>
          <a:xfrm>
            <a:off x="1417320" y="1097280"/>
            <a:ext cx="6309360" cy="3547872"/>
          </a:xfrm>
          <a:prstGeom prst="rect">
            <a:avLst/>
          </a:prstGeom>
        </p:spPr>
      </p:pic>
      <p:sp>
        <p:nvSpPr>
          <p:cNvPr id="4" name="YouTube link">
            <a:hlinkClick r:id="rId3" tooltip=""/>
          </p:cNvPr>
          <p:cNvSpPr txBox="1"/>
          <p:nvPr/>
        </p:nvSpPr>
        <p:spPr>
          <a:xfrm>
            <a:off x="1417320" y="4663440"/>
            <a:ext cx="6309360" cy="274320"/>
          </a:xfrm>
          <a:prstGeom prst="rect">
            <a:avLst/>
          </a:prstGeom>
          <a:noFill/>
          <a:ln/>
        </p:spPr>
        <p:txBody>
          <a:bodyPr wrap="square" lIns="0" tIns="0" rIns="0" bIns="0" rtlCol="0" anchor="ctr"/>
          <a:lstStyle/>
          <a:p>
            <a:pPr algn="ctr" indent="0" marL="0">
              <a:buNone/>
            </a:pPr>
            <a:r>
              <a:rPr lang="en-US" sz="1000" u="sng" dirty="0">
                <a:solidFill>
                  <a:schemeClr val="tx2"/>
                </a:solidFill>
                <a:hlinkClick r:id="rId3" invalidUrl="" action="" tgtFrame="" tooltip="" history="1" highlightClick="0" endSnd="0">
                  <a:extLst>
                    <a:ext uri="{A12FA001-AC4F-418D-AE19-62706E023703}">
                      <ahyp:hlinkClr xmlns:ahyp="http://schemas.microsoft.com/office/drawing/2018/hyperlinkcolor" val="tx"/>
                    </a:ext>
                  </a:extLst>
                </a:hlinkClick>
              </a:rPr>
              <a:t>youtube.com/watch?v=6LXrfWtKSlg</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8B8"/>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SEELE">
  <a:themeElements>
    <a:clrScheme name="SEELE">
      <a:dk1>
        <a:srgbClr val="F2F2F2"/>
      </a:dk1>
      <a:lt1>
        <a:srgbClr val="0A0A0A"/>
      </a:lt1>
      <a:dk2>
        <a:srgbClr val="B8B8B8"/>
      </a:dk2>
      <a:lt2>
        <a:srgbClr val="161616"/>
      </a:lt2>
      <a:accent1>
        <a:srgbClr val="FF2A1A"/>
      </a:accent1>
      <a:accent2>
        <a:srgbClr val="FF7A6A"/>
      </a:accent2>
      <a:accent3>
        <a:srgbClr val="7A1A12"/>
      </a:accent3>
      <a:accent4>
        <a:srgbClr val="4FC3F7"/>
      </a:accent4>
      <a:accent5>
        <a:srgbClr val="FFB74D"/>
      </a:accent5>
      <a:accent6>
        <a:srgbClr val="B388FF"/>
      </a:accent6>
      <a:hlink>
        <a:srgbClr val="FF7A6A"/>
      </a:hlink>
      <a:folHlink>
        <a:srgbClr val="B8B8B8"/>
      </a:folHlink>
    </a:clrScheme>
    <a:fontScheme name="SEE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cEverything</dc:title>
  <dc:subject>PptxGenJS Presentation</dc:subject>
  <dc:creator>The Lokust</dc:creator>
  <cp:lastModifiedBy>The Lokust</cp:lastModifiedBy>
  <cp:revision>1</cp:revision>
  <dcterms:created xsi:type="dcterms:W3CDTF">2026-10-18T02:05:53Z</dcterms:created>
  <dcterms:modified xsi:type="dcterms:W3CDTF">2026-10-18T02:05:53Z</dcterms:modified>
</cp:coreProperties>
</file>