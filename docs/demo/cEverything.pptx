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c511a0c-eca5-8f9c-2a7b-7a9506af39ec}">
          <p14:sldIdLst>
            <p14:sldId id="256"/>
          </p14:sldIdLst>
        </p14:section>
        <p14:section name="The idea" id="{9fdad5c7-d84b-3d6d-bb89-626cfe62c1e0}">
          <p14:sldIdLst>
            <p14:sldId id="257"/>
          </p14:sldIdLst>
        </p14:section>
        <p14:section name="Demo" id="{e1f90b5a-d782-98e9-1927-b9b60e2b8ad2}">
          <p14:sldIdLst>
            <p14:sldId id="258"/>
          </p14:sldIdLst>
        </p14:section>
        <p14:section name="How it was built" id="{7d2bf93a-1e97-c587-6f43-6524f1c95dc1}">
          <p14:sldIdLst>
            <p14:sldId id="259"/>
          </p14:sldIdLst>
        </p14:section>
        <p14:section name="Closing" id="{bc7cc42f-a111-eef5-dbeb-312c8e468894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2F2F2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F2F2F2"/>
                </a:solidFill>
                <a:latin typeface="+mn-lt"/>
              </a:rPr>
              <a:t>Tokens by kind, millions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 (millions)</c:v>
                </c:pt>
              </c:strCache>
            </c:strRef>
          </c:tx>
          <c:spPr>
            <a:solidFill>
              <a:srgbClr val="FF2A1A"/>
            </a:solidFill>
            <a:effectLst/>
          </c:spPr>
          <c:invertIfNegative val="0"/>
          <c:dLbls>
            <c:numFmt formatCode="#,##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2F2F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Cache read</c:v>
                  </c:pt>
                  <c:pt idx="1">
                    <c:v>Cache write</c:v>
                  </c:pt>
                  <c:pt idx="2">
                    <c:v>Output</c:v>
                  </c:pt>
                  <c:pt idx="3">
                    <c:v>Fresh input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770.9</c:v>
                </c:pt>
                <c:pt idx="1">
                  <c:v>39.09</c:v>
                </c:pt>
                <c:pt idx="2">
                  <c:v>2.01</c:v>
                </c:pt>
                <c:pt idx="3">
                  <c:v>0.04</c:v>
                </c:pt>
              </c:numCache>
            </c:numRef>
          </c:val>
        </c:ser>
        <c:dLbls>
          <c:numFmt formatCode="#,##0.0" sourceLinked="0"/>
          <c:txPr>
            <a:bodyPr/>
            <a:lstStyle/>
            <a:p>
              <a:pPr>
                <a:defRPr b="0" i="0" strike="noStrike" sz="1100" u="none">
                  <a:solidFill>
                    <a:srgbClr val="F2F2F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B8B8B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cEverything turns every AI agent session into a monolith in a WebXR room you can walk through.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43-second laptop-view recording: walking the aisle, a pipe between chats, a live Hermes reply, the legend and the timeline.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Counted from every Claude Code transcript of this chat and its 20 sub-sessions, one entry per API call. Most tokens are cache reads: long sessions re-reading their own context. Local Hermes (qwen3:8b) tokens are not included.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cEverything · The Lokust · MOLTEN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8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8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6LXrfWtKSlg" TargetMode="External"/><Relationship Id="rId1" Target="https://www.youtube.com/embed/6LXrfWtKSlg" TargetMode="External" Type="http://schemas.openxmlformats.org/officeDocument/2006/relationships/video"/><Relationship Id="rId2" Type="http://schemas.openxmlformats.org/officeDocument/2006/relationships/image" Target="../media/image-5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 frame" descr="/private/tmp/claude-501/-Users-ljf-GitHub-cEverything--claude-worktrees-hermes-vr-spatial-5b5bf8/19f10a9b-f754-4be0-b65f-458601f0e7a6/scratchpad/demo/th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06240" y="0"/>
            <a:ext cx="4937760" cy="5143500"/>
          </a:xfrm>
          <a:prstGeom prst="rect">
            <a:avLst/>
          </a:prstGeom>
        </p:spPr>
      </p:pic>
      <p:sp>
        <p:nvSpPr>
          <p:cNvPr id="3" name="Hero shade"/>
          <p:cNvSpPr/>
          <p:nvPr/>
        </p:nvSpPr>
        <p:spPr>
          <a:xfrm>
            <a:off x="4206240" y="0"/>
            <a:ext cx="4937760" cy="5143500"/>
          </a:xfrm>
          <a:prstGeom prst="rect">
            <a:avLst/>
          </a:prstGeom>
          <a:solidFill>
            <a:srgbClr val="0A0A0A">
              <a:alpha val="45000"/>
            </a:srgbClr>
          </a:solidFill>
          <a:ln/>
        </p:spPr>
      </p:sp>
      <p:sp>
        <p:nvSpPr>
          <p:cNvPr id="4" name="Title"/>
          <p:cNvSpPr txBox="1"/>
          <p:nvPr/>
        </p:nvSpPr>
        <p:spPr>
          <a:xfrm>
            <a:off x="457200" y="13716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cEverything</a:t>
            </a:r>
            <a:endParaRPr lang="en-US" sz="4400" dirty="0"/>
          </a:p>
        </p:txBody>
      </p:sp>
      <p:sp>
        <p:nvSpPr>
          <p:cNvPr id="5" name="Tagline"/>
          <p:cNvSpPr txBox="1"/>
          <p:nvPr/>
        </p:nvSpPr>
        <p:spPr>
          <a:xfrm>
            <a:off x="457200" y="2286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Your AI agents, as a room you walk through</a:t>
            </a:r>
            <a:endParaRPr lang="en-US" sz="2000" dirty="0"/>
          </a:p>
        </p:txBody>
      </p:sp>
      <p:sp>
        <p:nvSpPr>
          <p:cNvPr id="6" name="Byline"/>
          <p:cNvSpPr txBox="1"/>
          <p:nvPr/>
        </p:nvSpPr>
        <p:spPr>
          <a:xfrm>
            <a:off x="457200" y="4206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Lokust · MOLTEN 2026 · Open track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One room for every agent you run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457200" y="1234440"/>
            <a:ext cx="1828800" cy="32004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7A1A12"/>
            </a:solidFill>
            <a:prstDash val="solid"/>
          </a:ln>
        </p:spPr>
      </p:sp>
      <p:sp>
        <p:nvSpPr>
          <p:cNvPr id="4" name="Icon circle 1"/>
          <p:cNvSpPr/>
          <p:nvPr/>
        </p:nvSpPr>
        <p:spPr>
          <a:xfrm>
            <a:off x="1051560" y="1463040"/>
            <a:ext cx="640080" cy="640080"/>
          </a:xfrm>
          <a:prstGeom prst="ellipse">
            <a:avLst/>
          </a:prstGeom>
          <a:solidFill>
            <a:srgbClr val="7A1A12"/>
          </a:solidFill>
          <a:ln/>
        </p:spPr>
      </p:sp>
      <p:pic>
        <p:nvPicPr>
          <p:cNvPr id="5" name="Icon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600200"/>
            <a:ext cx="365760" cy="365760"/>
          </a:xfrm>
          <a:prstGeom prst="rect">
            <a:avLst/>
          </a:prstGeom>
        </p:spPr>
      </p:pic>
      <p:sp>
        <p:nvSpPr>
          <p:cNvPr id="6" name="Card head 1"/>
          <p:cNvSpPr txBox="1"/>
          <p:nvPr/>
        </p:nvSpPr>
        <p:spPr>
          <a:xfrm>
            <a:off x="594360" y="22860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Chats are monoliths</a:t>
            </a:r>
            <a:endParaRPr lang="en-US" sz="1500" dirty="0"/>
          </a:p>
        </p:txBody>
      </p:sp>
      <p:sp>
        <p:nvSpPr>
          <p:cNvPr id="7" name="Card body 1"/>
          <p:cNvSpPr txBox="1"/>
          <p:nvPr/>
        </p:nvSpPr>
        <p:spPr>
          <a:xfrm>
            <a:off x="594360" y="28803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Each Hermes or Claude Code chat stands as a stack of its messages</a:t>
            </a:r>
            <a:endParaRPr lang="en-US" sz="1200" dirty="0"/>
          </a:p>
        </p:txBody>
      </p:sp>
      <p:sp>
        <p:nvSpPr>
          <p:cNvPr id="8" name="Card 2"/>
          <p:cNvSpPr/>
          <p:nvPr/>
        </p:nvSpPr>
        <p:spPr>
          <a:xfrm>
            <a:off x="2560320" y="1234440"/>
            <a:ext cx="1828800" cy="32004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7A1A12"/>
            </a:solidFill>
            <a:prstDash val="solid"/>
          </a:ln>
        </p:spPr>
      </p:sp>
      <p:sp>
        <p:nvSpPr>
          <p:cNvPr id="9" name="Icon circle 2"/>
          <p:cNvSpPr/>
          <p:nvPr/>
        </p:nvSpPr>
        <p:spPr>
          <a:xfrm>
            <a:off x="3154680" y="1463040"/>
            <a:ext cx="640080" cy="640080"/>
          </a:xfrm>
          <a:prstGeom prst="ellipse">
            <a:avLst/>
          </a:prstGeom>
          <a:solidFill>
            <a:srgbClr val="7A1A12"/>
          </a:solidFill>
          <a:ln/>
        </p:spPr>
      </p:sp>
      <p:pic>
        <p:nvPicPr>
          <p:cNvPr id="10" name="Icon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600200"/>
            <a:ext cx="365760" cy="365760"/>
          </a:xfrm>
          <a:prstGeom prst="rect">
            <a:avLst/>
          </a:prstGeom>
        </p:spPr>
      </p:pic>
      <p:sp>
        <p:nvSpPr>
          <p:cNvPr id="11" name="Card head 2"/>
          <p:cNvSpPr txBox="1"/>
          <p:nvPr/>
        </p:nvSpPr>
        <p:spPr>
          <a:xfrm>
            <a:off x="2697480" y="22860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Tools are pylons</a:t>
            </a:r>
            <a:endParaRPr lang="en-US" sz="1500" dirty="0"/>
          </a:p>
        </p:txBody>
      </p:sp>
      <p:sp>
        <p:nvSpPr>
          <p:cNvPr id="12" name="Card body 2"/>
          <p:cNvSpPr txBox="1"/>
          <p:nvPr/>
        </p:nvSpPr>
        <p:spPr>
          <a:xfrm>
            <a:off x="2697480" y="28803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tool call flies as a spark to a browser, file, shell or other pylon</a:t>
            </a:r>
            <a:endParaRPr lang="en-US" sz="1200" dirty="0"/>
          </a:p>
        </p:txBody>
      </p:sp>
      <p:sp>
        <p:nvSpPr>
          <p:cNvPr id="13" name="Card 3"/>
          <p:cNvSpPr/>
          <p:nvPr/>
        </p:nvSpPr>
        <p:spPr>
          <a:xfrm>
            <a:off x="4663440" y="1234440"/>
            <a:ext cx="1828800" cy="32004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7A1A12"/>
            </a:solidFill>
            <a:prstDash val="solid"/>
          </a:ln>
        </p:spPr>
      </p:sp>
      <p:sp>
        <p:nvSpPr>
          <p:cNvPr id="14" name="Icon circle 3"/>
          <p:cNvSpPr/>
          <p:nvPr/>
        </p:nvSpPr>
        <p:spPr>
          <a:xfrm>
            <a:off x="5257800" y="1463040"/>
            <a:ext cx="640080" cy="640080"/>
          </a:xfrm>
          <a:prstGeom prst="ellipse">
            <a:avLst/>
          </a:prstGeom>
          <a:solidFill>
            <a:srgbClr val="7A1A12"/>
          </a:solidFill>
          <a:ln/>
        </p:spPr>
      </p:sp>
      <p:pic>
        <p:nvPicPr>
          <p:cNvPr id="15" name="Icon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600200"/>
            <a:ext cx="365760" cy="365760"/>
          </a:xfrm>
          <a:prstGeom prst="rect">
            <a:avLst/>
          </a:prstGeom>
        </p:spPr>
      </p:pic>
      <p:sp>
        <p:nvSpPr>
          <p:cNvPr id="16" name="Card head 3"/>
          <p:cNvSpPr txBox="1"/>
          <p:nvPr/>
        </p:nvSpPr>
        <p:spPr>
          <a:xfrm>
            <a:off x="4800600" y="22860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Hands and voice act</a:t>
            </a:r>
            <a:endParaRPr lang="en-US" sz="1500" dirty="0"/>
          </a:p>
        </p:txBody>
      </p:sp>
      <p:sp>
        <p:nvSpPr>
          <p:cNvPr id="17" name="Card body 3"/>
          <p:cNvSpPr txBox="1"/>
          <p:nvPr/>
        </p:nvSpPr>
        <p:spPr>
          <a:xfrm>
            <a:off x="4800600" y="28803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Pinch to fork a chat or pipe a message, hold to talk</a:t>
            </a:r>
            <a:endParaRPr lang="en-US" sz="1200" dirty="0"/>
          </a:p>
        </p:txBody>
      </p:sp>
      <p:sp>
        <p:nvSpPr>
          <p:cNvPr id="18" name="Card 4"/>
          <p:cNvSpPr/>
          <p:nvPr/>
        </p:nvSpPr>
        <p:spPr>
          <a:xfrm>
            <a:off x="6766560" y="1234440"/>
            <a:ext cx="1828800" cy="32004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7A1A12"/>
            </a:solidFill>
            <a:prstDash val="solid"/>
          </a:ln>
        </p:spPr>
      </p:sp>
      <p:sp>
        <p:nvSpPr>
          <p:cNvPr id="19" name="Icon circle 4"/>
          <p:cNvSpPr/>
          <p:nvPr/>
        </p:nvSpPr>
        <p:spPr>
          <a:xfrm>
            <a:off x="7360920" y="1463040"/>
            <a:ext cx="640080" cy="640080"/>
          </a:xfrm>
          <a:prstGeom prst="ellipse">
            <a:avLst/>
          </a:prstGeom>
          <a:solidFill>
            <a:srgbClr val="7A1A12"/>
          </a:solidFill>
          <a:ln/>
        </p:spPr>
      </p:sp>
      <p:pic>
        <p:nvPicPr>
          <p:cNvPr id="20" name="Icon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600200"/>
            <a:ext cx="365760" cy="365760"/>
          </a:xfrm>
          <a:prstGeom prst="rect">
            <a:avLst/>
          </a:prstGeom>
        </p:spPr>
      </p:pic>
      <p:sp>
        <p:nvSpPr>
          <p:cNvPr id="21" name="Card head 4"/>
          <p:cNvSpPr txBox="1"/>
          <p:nvPr/>
        </p:nvSpPr>
        <p:spPr>
          <a:xfrm>
            <a:off x="6903720" y="22860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Laptops join in</a:t>
            </a:r>
            <a:endParaRPr lang="en-US" sz="1500" dirty="0"/>
          </a:p>
        </p:txBody>
      </p:sp>
      <p:sp>
        <p:nvSpPr>
          <p:cNvPr id="22" name="Card body 4"/>
          <p:cNvSpPr txBox="1"/>
          <p:nvPr/>
        </p:nvSpPr>
        <p:spPr>
          <a:xfrm>
            <a:off x="6903720" y="288036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Others watch, scrub the timeline and type from a laptop or phone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8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Walk the aisle, live</a:t>
            </a:r>
            <a:endParaRPr lang="en-US" sz="3200" dirty="0"/>
          </a:p>
        </p:txBody>
      </p:sp>
      <p:pic>
        <p:nvPicPr>
          <p:cNvPr id="3" name="Demo 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417320" y="1097280"/>
            <a:ext cx="6309360" cy="35478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8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Built in one day by a team of AI agents</a:t>
            </a:r>
            <a:endParaRPr lang="en-US" sz="3200" dirty="0"/>
          </a:p>
        </p:txBody>
      </p:sp>
      <p:sp>
        <p:nvSpPr>
          <p:cNvPr id="3" name="Stat 1"/>
          <p:cNvSpPr txBox="1"/>
          <p:nvPr/>
        </p:nvSpPr>
        <p:spPr>
          <a:xfrm>
            <a:off x="457200" y="1188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812M</a:t>
            </a:r>
            <a:endParaRPr lang="en-US" sz="3000" dirty="0"/>
          </a:p>
        </p:txBody>
      </p:sp>
      <p:sp>
        <p:nvSpPr>
          <p:cNvPr id="4" name="Stat label 1"/>
          <p:cNvSpPr txBox="1"/>
          <p:nvPr/>
        </p:nvSpPr>
        <p:spPr>
          <a:xfrm>
            <a:off x="22860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tokens processed</a:t>
            </a:r>
            <a:endParaRPr lang="en-US" sz="1400" dirty="0"/>
          </a:p>
        </p:txBody>
      </p:sp>
      <p:sp>
        <p:nvSpPr>
          <p:cNvPr id="5" name="Stat 2"/>
          <p:cNvSpPr txBox="1"/>
          <p:nvPr/>
        </p:nvSpPr>
        <p:spPr>
          <a:xfrm>
            <a:off x="45720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5,712</a:t>
            </a:r>
            <a:endParaRPr lang="en-US" sz="3000" dirty="0"/>
          </a:p>
        </p:txBody>
      </p:sp>
      <p:sp>
        <p:nvSpPr>
          <p:cNvPr id="6" name="Stat label 2"/>
          <p:cNvSpPr txBox="1"/>
          <p:nvPr/>
        </p:nvSpPr>
        <p:spPr>
          <a:xfrm>
            <a:off x="228600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model calls</a:t>
            </a:r>
            <a:endParaRPr lang="en-US" sz="1400" dirty="0"/>
          </a:p>
        </p:txBody>
      </p:sp>
      <p:sp>
        <p:nvSpPr>
          <p:cNvPr id="7" name="Stat 3"/>
          <p:cNvSpPr txBox="1"/>
          <p:nvPr/>
        </p:nvSpPr>
        <p:spPr>
          <a:xfrm>
            <a:off x="457200" y="2560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21</a:t>
            </a:r>
            <a:endParaRPr lang="en-US" sz="3000" dirty="0"/>
          </a:p>
        </p:txBody>
      </p:sp>
      <p:sp>
        <p:nvSpPr>
          <p:cNvPr id="8" name="Stat label 3"/>
          <p:cNvSpPr txBox="1"/>
          <p:nvPr/>
        </p:nvSpPr>
        <p:spPr>
          <a:xfrm>
            <a:off x="228600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agent sessions</a:t>
            </a:r>
            <a:endParaRPr lang="en-US" sz="1400" dirty="0"/>
          </a:p>
        </p:txBody>
      </p:sp>
      <p:sp>
        <p:nvSpPr>
          <p:cNvPr id="9" name="Stat 4"/>
          <p:cNvSpPr txBox="1"/>
          <p:nvPr/>
        </p:nvSpPr>
        <p:spPr>
          <a:xfrm>
            <a:off x="457200" y="32461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42</a:t>
            </a:r>
            <a:endParaRPr lang="en-US" sz="3000" dirty="0"/>
          </a:p>
        </p:txBody>
      </p:sp>
      <p:sp>
        <p:nvSpPr>
          <p:cNvPr id="10" name="Stat label 4"/>
          <p:cNvSpPr txBox="1"/>
          <p:nvPr/>
        </p:nvSpPr>
        <p:spPr>
          <a:xfrm>
            <a:off x="2286000" y="32461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PRs merged</a:t>
            </a:r>
            <a:endParaRPr lang="en-US" sz="1400" dirty="0"/>
          </a:p>
        </p:txBody>
      </p:sp>
      <p:sp>
        <p:nvSpPr>
          <p:cNvPr id="11" name="Stat 5"/>
          <p:cNvSpPr txBox="1"/>
          <p:nvPr/>
        </p:nvSpPr>
        <p:spPr>
          <a:xfrm>
            <a:off x="457200" y="3931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229</a:t>
            </a:r>
            <a:endParaRPr lang="en-US" sz="3000" dirty="0"/>
          </a:p>
        </p:txBody>
      </p:sp>
      <p:sp>
        <p:nvSpPr>
          <p:cNvPr id="12" name="Stat label 5"/>
          <p:cNvSpPr txBox="1"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tests passing</a:t>
            </a:r>
            <a:endParaRPr lang="en-US" sz="1400" dirty="0"/>
          </a:p>
        </p:txBody>
      </p:sp>
      <p:graphicFrame>
        <p:nvGraphicFramePr>
          <p:cNvPr id="13" name="Token chart" descr=""/>
          <p:cNvGraphicFramePr/>
          <p:nvPr/>
        </p:nvGraphicFramePr>
        <p:xfrm>
          <a:off x="4572000" y="109728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8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One more thing</a:t>
            </a:r>
            <a:endParaRPr lang="en-US" sz="3200" dirty="0"/>
          </a:p>
        </p:txBody>
      </p:sp>
      <p:pic>
        <p:nvPicPr>
          <p:cNvPr id="3" name="YouTube video"/>
          <p:cNvPicPr/>
          <p:nvPr>
            <a:videoFile r:link="rId1"/>
          </p:nvPr>
        </p:nvPicPr>
        <p:blipFill>
          <a:blip r:embed="rId2"/>
          <a:stretch>
            <a:fillRect/>
          </a:stretch>
        </p:blipFill>
        <p:spPr>
          <a:xfrm>
            <a:off x="1417320" y="1097280"/>
            <a:ext cx="6309360" cy="3547872"/>
          </a:xfrm>
          <a:prstGeom prst="rect">
            <a:avLst/>
          </a:prstGeom>
        </p:spPr>
      </p:pic>
      <p:sp>
        <p:nvSpPr>
          <p:cNvPr id="4" name="YouTube link">
            <a:hlinkClick r:id="rId3" tooltip=""/>
          </p:cNvPr>
          <p:cNvSpPr txBox="1"/>
          <p:nvPr/>
        </p:nvSpPr>
        <p:spPr>
          <a:xfrm>
            <a:off x="1417320" y="46634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sng" dirty="0">
                <a:solidFill>
                  <a:schemeClr val="tx2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youtube.com/watch?v=6LXrfWtKSlg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8B8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ELE">
  <a:themeElements>
    <a:clrScheme name="SEELE">
      <a:dk1>
        <a:srgbClr val="F2F2F2"/>
      </a:dk1>
      <a:lt1>
        <a:srgbClr val="0A0A0A"/>
      </a:lt1>
      <a:dk2>
        <a:srgbClr val="B8B8B8"/>
      </a:dk2>
      <a:lt2>
        <a:srgbClr val="161616"/>
      </a:lt2>
      <a:accent1>
        <a:srgbClr val="FF2A1A"/>
      </a:accent1>
      <a:accent2>
        <a:srgbClr val="FF7A6A"/>
      </a:accent2>
      <a:accent3>
        <a:srgbClr val="7A1A12"/>
      </a:accent3>
      <a:accent4>
        <a:srgbClr val="4FC3F7"/>
      </a:accent4>
      <a:accent5>
        <a:srgbClr val="FFB74D"/>
      </a:accent5>
      <a:accent6>
        <a:srgbClr val="B388FF"/>
      </a:accent6>
      <a:hlink>
        <a:srgbClr val="FF7A6A"/>
      </a:hlink>
      <a:folHlink>
        <a:srgbClr val="B8B8B8"/>
      </a:folHlink>
    </a:clrScheme>
    <a:fontScheme name="SEEL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cEverything</dc:title>
  <dc:subject>PptxGenJS Presentation</dc:subject>
  <dc:creator>The Lokust</dc:creator>
  <cp:lastModifiedBy>The Lokust</cp:lastModifiedBy>
  <cp:revision>1</cp:revision>
  <dcterms:created xsi:type="dcterms:W3CDTF">2026-10-18T01:56:27Z</dcterms:created>
  <dcterms:modified xsi:type="dcterms:W3CDTF">2026-10-18T01:56:27Z</dcterms:modified>
</cp:coreProperties>
</file>